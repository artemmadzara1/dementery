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Рисунок 1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ru-RU">
                <a:solidFill>
                  <a:schemeClr val="bg1"/>
                </a:solidFill>
              </a:rPr>
              <a:t>Dementery</a:t>
            </a:r>
            <a:endParaRPr lang="en-US" altLang="ru-RU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-1709420" y="5641658"/>
            <a:ext cx="9144000" cy="1655762"/>
          </a:xfrm>
        </p:spPr>
        <p:txBody>
          <a:bodyPr/>
          <a:p>
            <a:r>
              <a:rPr lang="en-US" altLang="ru-RU" sz="1400">
                <a:solidFill>
                  <a:schemeClr val="bg1"/>
                </a:solidFill>
              </a:rPr>
              <a:t>created madzara artem</a:t>
            </a:r>
            <a:endParaRPr lang="en-US" altLang="ru-RU" sz="1400">
              <a:solidFill>
                <a:schemeClr val="bg1"/>
              </a:solidFill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">
            <a:off x="13392150" y="-259080"/>
            <a:ext cx="3025140" cy="441960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680000">
            <a:off x="217170" y="8111490"/>
            <a:ext cx="4000500" cy="3924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Рисунок 1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>
                <a:solidFill>
                  <a:schemeClr val="bg1"/>
                </a:solidFill>
              </a:rPr>
              <a:t>что это за проект</a:t>
            </a:r>
            <a:endParaRPr lang="ru-RU" altLang="ru-RU">
              <a:solidFill>
                <a:schemeClr val="bg1"/>
              </a:solidFill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838200" y="2506345"/>
            <a:ext cx="10515600" cy="4351338"/>
          </a:xfrm>
        </p:spPr>
        <p:txBody>
          <a:bodyPr/>
          <a:p>
            <a:r>
              <a:rPr lang="en-US" altLang="ru-RU">
                <a:solidFill>
                  <a:schemeClr val="bg1"/>
                </a:solidFill>
              </a:rPr>
              <a:t>Dementery — </a:t>
            </a:r>
            <a:r>
              <a:rPr lang="en-US" altLang="en-US">
                <a:solidFill>
                  <a:schemeClr val="bg1"/>
                </a:solidFill>
              </a:rPr>
              <a:t>это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веб</a:t>
            </a:r>
            <a:r>
              <a:rPr lang="en-US" altLang="ru-RU">
                <a:solidFill>
                  <a:schemeClr val="bg1"/>
                </a:solidFill>
              </a:rPr>
              <a:t>-</a:t>
            </a:r>
            <a:r>
              <a:rPr lang="en-US" altLang="en-US">
                <a:solidFill>
                  <a:schemeClr val="bg1"/>
                </a:solidFill>
              </a:rPr>
              <a:t>приложение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для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тестирования</a:t>
            </a:r>
            <a:r>
              <a:rPr lang="en-US" altLang="ru-RU">
                <a:solidFill>
                  <a:schemeClr val="bg1"/>
                </a:solidFill>
              </a:rPr>
              <a:t>  </a:t>
            </a:r>
            <a:r>
              <a:rPr lang="en-US" altLang="en-US">
                <a:solidFill>
                  <a:schemeClr val="bg1"/>
                </a:solidFill>
              </a:rPr>
              <a:t>способностей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с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целью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раннего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выявления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рисков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деменции</a:t>
            </a:r>
            <a:r>
              <a:rPr lang="en-US" altLang="ru-RU">
                <a:solidFill>
                  <a:schemeClr val="bg1"/>
                </a:solidFill>
              </a:rPr>
              <a:t>.</a:t>
            </a:r>
            <a:endParaRPr lang="en-US" altLang="ru-RU">
              <a:solidFill>
                <a:schemeClr val="bg1"/>
              </a:solidFill>
            </a:endParaRPr>
          </a:p>
        </p:txBody>
      </p:sp>
      <p:pic>
        <p:nvPicPr>
          <p:cNvPr id="15" name="Трехмерная модель 14" descr="Знак вопроса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 rot="2760000">
            <a:off x="1075690" y="3474085"/>
            <a:ext cx="2656205" cy="3698875"/>
          </a:xfrm>
          <a:prstGeom prst="rect">
            <a:avLst/>
          </a:prstGeom>
        </p:spPr>
      </p:pic>
      <p:pic>
        <p:nvPicPr>
          <p:cNvPr id="7" name="Объект 3" descr="Эмодзи «Лицо с поднятыми бровями»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 rot="1980000">
            <a:off x="8227501" y="3363528"/>
            <a:ext cx="3862589" cy="3919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927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solidFill>
                  <a:schemeClr val="bg1"/>
                </a:solidFill>
              </a:rPr>
              <a:t>цель моего проекта</a:t>
            </a:r>
            <a:endParaRPr lang="ru-RU" altLang="en-US">
              <a:solidFill>
                <a:schemeClr val="bg1"/>
              </a:solidFill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47700" y="2265045"/>
            <a:ext cx="11176000" cy="232791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800" b="0" i="0">
                <a:solidFill>
                  <a:schemeClr val="bg1"/>
                </a:solidFill>
                <a:latin typeface="system-ui"/>
                <a:ea typeface="system-ui"/>
              </a:rPr>
              <a:t>Основная цель: Предоставить пользователям доступный инструмент самодиагностики с соблюдением всех требований информационной безопасности и защиты персональных данных.</a:t>
            </a:r>
            <a:endParaRPr lang="en-US" altLang="zh-CN" sz="2800" b="0" i="0">
              <a:solidFill>
                <a:schemeClr val="bg1"/>
              </a:solidFill>
              <a:latin typeface="system-ui"/>
              <a:ea typeface="system-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635" y="-49530"/>
            <a:ext cx="12192000" cy="703262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ИБ</a:t>
            </a:r>
            <a:r>
              <a:rPr lang="en-US" altLang="ru-RU">
                <a:solidFill>
                  <a:schemeClr val="bg1"/>
                </a:solidFill>
              </a:rPr>
              <a:t>-</a:t>
            </a:r>
            <a:r>
              <a:rPr lang="en-US" altLang="en-US">
                <a:solidFill>
                  <a:schemeClr val="bg1"/>
                </a:solidFill>
              </a:rPr>
              <a:t>ФУНКЦИИ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ПРОЕКТА</a:t>
            </a:r>
            <a:endParaRPr lang="en-US" altLang="en-US">
              <a:solidFill>
                <a:schemeClr val="bg1"/>
              </a:solidFill>
            </a:endParaRPr>
          </a:p>
        </p:txBody>
      </p:sp>
      <p:graphicFrame>
        <p:nvGraphicFramePr>
          <p:cNvPr id="8" name="Таблица 7"/>
          <p:cNvGraphicFramePr/>
          <p:nvPr/>
        </p:nvGraphicFramePr>
        <p:xfrm>
          <a:off x="1828800" y="2667000"/>
          <a:ext cx="8533765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сделано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несделано</a:t>
                      </a:r>
                      <a:endParaRPr lang="ru-RU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аунтефикация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отправка направления к врачу при низких показателях</a:t>
                      </a:r>
                      <a:endParaRPr lang="ru-RU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хеширование паролей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ru-RU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solidFill>
                  <a:schemeClr val="bg1"/>
                </a:solidFill>
              </a:rPr>
              <a:t>анализ проблемы</a:t>
            </a:r>
            <a:endParaRPr lang="ru-RU" altLang="en-US">
              <a:solidFill>
                <a:schemeClr val="bg1"/>
              </a:solidFill>
            </a:endParaRPr>
          </a:p>
        </p:txBody>
      </p:sp>
      <p:graphicFrame>
        <p:nvGraphicFramePr>
          <p:cNvPr id="5" name="Таблица 4"/>
          <p:cNvGraphicFramePr/>
          <p:nvPr/>
        </p:nvGraphicFramePr>
        <p:xfrm>
          <a:off x="853440" y="1584325"/>
          <a:ext cx="853376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проблема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риск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последствия</a:t>
                      </a:r>
                      <a:endParaRPr lang="ru-RU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Утечки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медицинских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данных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Высокий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Штрафы</a:t>
                      </a:r>
                      <a:r>
                        <a:rPr lang="en-US" altLang="ru-RU"/>
                        <a:t>, </a:t>
                      </a:r>
                      <a:r>
                        <a:rPr lang="en-US" altLang="en-US"/>
                        <a:t>потеря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доверия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Хранение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паролей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в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открытом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виде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Критический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Взлом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аккаунтов</a:t>
                      </a:r>
                      <a:r>
                        <a:rPr lang="ru-RU" altLang="en-US"/>
                        <a:t> с последующими действиями</a:t>
                      </a:r>
                      <a:endParaRPr lang="ru-RU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Отсутствие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согласия</a:t>
                      </a:r>
                      <a:r>
                        <a:rPr lang="en-US" altLang="ru-RU"/>
                        <a:t> 152-</a:t>
                      </a:r>
                      <a:r>
                        <a:rPr lang="en-US" altLang="en-US"/>
                        <a:t>ФЗ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Отсутствие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согласия</a:t>
                      </a:r>
                      <a:r>
                        <a:rPr lang="en-US" altLang="ru-RU"/>
                        <a:t> 152-</a:t>
                      </a:r>
                      <a:r>
                        <a:rPr lang="en-US" altLang="en-US"/>
                        <a:t>ФЗ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Юридическая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ответственность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Доступ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к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чужим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результатам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Средний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Нарушение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конфиденциальности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Текстовое поле 5"/>
          <p:cNvSpPr txBox="1"/>
          <p:nvPr/>
        </p:nvSpPr>
        <p:spPr>
          <a:xfrm>
            <a:off x="746125" y="5276850"/>
            <a:ext cx="5080635" cy="136779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en-US" altLang="zh-CN" sz="1600" b="0" i="0">
                <a:solidFill>
                  <a:schemeClr val="bg1"/>
                </a:solidFill>
                <a:latin typeface="+mj-lt"/>
                <a:ea typeface="YS Text"/>
                <a:cs typeface="+mj-lt"/>
              </a:rPr>
              <a:t>Согласно этому исследованию</a:t>
            </a:r>
            <a:r>
              <a:rPr lang="ru-RU" altLang="en-US" sz="1600" b="0" i="0">
                <a:solidFill>
                  <a:schemeClr val="bg1"/>
                </a:solidFill>
                <a:latin typeface="+mj-lt"/>
                <a:ea typeface="YS Text"/>
                <a:cs typeface="+mj-lt"/>
              </a:rPr>
              <a:t> </a:t>
            </a:r>
            <a:r>
              <a:rPr lang="en-US" altLang="en-US" sz="1600" b="0" i="0">
                <a:solidFill>
                  <a:schemeClr val="bg1"/>
                </a:solidFill>
                <a:latin typeface="+mj-lt"/>
                <a:ea typeface="YS Text"/>
                <a:cs typeface="+mj-lt"/>
              </a:rPr>
              <a:t>infowatch</a:t>
            </a:r>
            <a:r>
              <a:rPr lang="en-US" altLang="zh-CN" sz="1600" b="0" i="0">
                <a:solidFill>
                  <a:schemeClr val="bg1"/>
                </a:solidFill>
                <a:latin typeface="+mj-lt"/>
                <a:ea typeface="YS Text"/>
                <a:cs typeface="+mj-lt"/>
              </a:rPr>
              <a:t>, за первые шесть месяцев 2025 года в разных странах утекли </a:t>
            </a:r>
            <a:r>
              <a:rPr lang="en-US" altLang="zh-CN" sz="1600" i="0">
                <a:solidFill>
                  <a:schemeClr val="bg1"/>
                </a:solidFill>
                <a:latin typeface="+mj-lt"/>
                <a:ea typeface="YS Text"/>
                <a:cs typeface="+mj-lt"/>
              </a:rPr>
              <a:t>58,4 млн</a:t>
            </a:r>
            <a:r>
              <a:rPr lang="en-US" altLang="zh-CN" sz="1600" b="0" i="0">
                <a:solidFill>
                  <a:schemeClr val="bg1"/>
                </a:solidFill>
                <a:latin typeface="+mj-lt"/>
                <a:ea typeface="YS Text"/>
                <a:cs typeface="+mj-lt"/>
              </a:rPr>
              <a:t> профильных записей с персональными данными, из них в России — </a:t>
            </a:r>
            <a:r>
              <a:rPr lang="en-US" altLang="zh-CN" sz="1600" i="0">
                <a:solidFill>
                  <a:schemeClr val="bg1"/>
                </a:solidFill>
                <a:latin typeface="+mj-lt"/>
                <a:ea typeface="YS Text"/>
                <a:cs typeface="+mj-lt"/>
              </a:rPr>
              <a:t>более 3 млн</a:t>
            </a:r>
            <a:r>
              <a:rPr lang="en-US" altLang="zh-CN" sz="1600" b="0" i="0">
                <a:solidFill>
                  <a:schemeClr val="bg1"/>
                </a:solidFill>
                <a:latin typeface="+mj-lt"/>
                <a:ea typeface="YS Text"/>
                <a:cs typeface="+mj-lt"/>
              </a:rPr>
              <a:t>.</a:t>
            </a:r>
            <a:endParaRPr lang="en-US" altLang="zh-CN" sz="1600" b="0" i="0">
              <a:solidFill>
                <a:schemeClr val="bg1"/>
              </a:solidFill>
              <a:latin typeface="+mj-lt"/>
              <a:ea typeface="YS Text"/>
              <a:cs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40" y="635"/>
            <a:ext cx="12189460" cy="685736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solidFill>
                  <a:schemeClr val="bg1"/>
                </a:solidFill>
              </a:rPr>
              <a:t>решение проблемы</a:t>
            </a:r>
            <a:endParaRPr lang="ru-RU" altLang="en-US">
              <a:solidFill>
                <a:schemeClr val="bg1"/>
              </a:solidFill>
            </a:endParaRPr>
          </a:p>
        </p:txBody>
      </p:sp>
      <p:sp>
        <p:nvSpPr>
          <p:cNvPr id="5" name="Заголовок 1"/>
          <p:cNvSpPr>
            <a:spLocks noGrp="1"/>
          </p:cNvSpPr>
          <p:nvPr/>
        </p:nvSpPr>
        <p:spPr>
          <a:xfrm>
            <a:off x="792480" y="2205990"/>
            <a:ext cx="10606405" cy="22396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ru-RU" altLang="en-US">
                <a:solidFill>
                  <a:schemeClr val="bg1"/>
                </a:solidFill>
              </a:rPr>
              <a:t>создать сайт на котором можно будет узнавать свое здоровье и это будет безопасно</a:t>
            </a:r>
            <a:r>
              <a:rPr lang="en-US" altLang="en-US">
                <a:solidFill>
                  <a:schemeClr val="bg1"/>
                </a:solidFill>
              </a:rPr>
              <a:t>.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-635"/>
            <a:ext cx="12065000" cy="685863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solidFill>
                  <a:schemeClr val="bg1"/>
                </a:solidFill>
              </a:rPr>
              <a:t>что</a:t>
            </a:r>
            <a:r>
              <a:rPr lang="en-US" altLang="en-US">
                <a:solidFill>
                  <a:schemeClr val="bg1"/>
                </a:solidFill>
              </a:rPr>
              <a:t>?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5" name="Заголовок 1"/>
          <p:cNvSpPr>
            <a:spLocks noGrp="1"/>
          </p:cNvSpPr>
          <p:nvPr/>
        </p:nvSpPr>
        <p:spPr>
          <a:xfrm>
            <a:off x="408940" y="2062480"/>
            <a:ext cx="10515600" cy="225488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en-US" altLang="en-US">
                <a:solidFill>
                  <a:schemeClr val="bg1"/>
                </a:solidFill>
              </a:rPr>
              <a:t>Dementery </a:t>
            </a:r>
            <a:r>
              <a:rPr lang="ru-RU" altLang="en-US">
                <a:solidFill>
                  <a:schemeClr val="bg1"/>
                </a:solidFill>
              </a:rPr>
              <a:t>-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это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веб</a:t>
            </a:r>
            <a:r>
              <a:rPr lang="en-US" altLang="ru-RU">
                <a:solidFill>
                  <a:schemeClr val="bg1"/>
                </a:solidFill>
              </a:rPr>
              <a:t>-</a:t>
            </a:r>
            <a:r>
              <a:rPr lang="en-US" altLang="en-US">
                <a:solidFill>
                  <a:schemeClr val="bg1"/>
                </a:solidFill>
              </a:rPr>
              <a:t>сайт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для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проверки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нахождения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проблем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которые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похожи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с</a:t>
            </a:r>
            <a:r>
              <a:rPr lang="en-US" altLang="ru-RU">
                <a:solidFill>
                  <a:schemeClr val="bg1"/>
                </a:solidFill>
              </a:rPr>
              <a:t> </a:t>
            </a:r>
            <a:r>
              <a:rPr lang="en-US" altLang="en-US">
                <a:solidFill>
                  <a:schemeClr val="bg1"/>
                </a:solidFill>
              </a:rPr>
              <a:t>деменцией</a:t>
            </a:r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30185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766060"/>
            <a:ext cx="10515600" cy="1325563"/>
          </a:xfrm>
        </p:spPr>
        <p:txBody>
          <a:bodyPr>
            <a:normAutofit fontScale="90000"/>
          </a:bodyPr>
          <a:p>
            <a:r>
              <a:rPr lang="ru-RU" dirty="0">
                <a:solidFill>
                  <a:schemeClr val="bg1"/>
                </a:solidFill>
                <a:latin typeface="Montserrat Regular" panose="00000500000000000000" pitchFamily="2" charset="-52"/>
                <a:sym typeface="+mn-ea"/>
              </a:rPr>
              <a:t>Проект полностью в сети а именно в браузере</a:t>
            </a:r>
            <a:r>
              <a:rPr lang="en-US" dirty="0">
                <a:solidFill>
                  <a:schemeClr val="bg1"/>
                </a:solidFill>
                <a:latin typeface="Montserrat Regular" panose="00000500000000000000" pitchFamily="2" charset="-52"/>
                <a:sym typeface="+mn-ea"/>
              </a:rPr>
              <a:t>(</a:t>
            </a:r>
            <a:r>
              <a:rPr lang="ru-RU" dirty="0">
                <a:solidFill>
                  <a:schemeClr val="bg1"/>
                </a:solidFill>
                <a:latin typeface="Montserrat Regular" panose="00000500000000000000" pitchFamily="2" charset="-52"/>
                <a:sym typeface="+mn-ea"/>
              </a:rPr>
              <a:t>Яндекс и другое</a:t>
            </a:r>
            <a:r>
              <a:rPr lang="en-US" dirty="0">
                <a:solidFill>
                  <a:schemeClr val="bg1"/>
                </a:solidFill>
                <a:latin typeface="Montserrat Regular" panose="00000500000000000000" pitchFamily="2" charset="-52"/>
                <a:sym typeface="+mn-ea"/>
              </a:rPr>
              <a:t>),</a:t>
            </a:r>
            <a:r>
              <a:rPr lang="ru-RU" dirty="0">
                <a:solidFill>
                  <a:schemeClr val="bg1"/>
                </a:solidFill>
                <a:latin typeface="Montserrat Regular" panose="00000500000000000000" pitchFamily="2" charset="-52"/>
                <a:sym typeface="+mn-ea"/>
              </a:rPr>
              <a:t>дементери можно пройти дома</a:t>
            </a:r>
            <a:r>
              <a:rPr lang="en-US" dirty="0">
                <a:solidFill>
                  <a:schemeClr val="bg1"/>
                </a:solidFill>
                <a:latin typeface="Montserrat Regular" panose="00000500000000000000" pitchFamily="2" charset="-52"/>
                <a:sym typeface="+mn-ea"/>
              </a:rPr>
              <a:t>,</a:t>
            </a:r>
            <a:r>
              <a:rPr lang="ru-RU" dirty="0">
                <a:solidFill>
                  <a:schemeClr val="bg1"/>
                </a:solidFill>
                <a:latin typeface="Montserrat Regular" panose="00000500000000000000" pitchFamily="2" charset="-52"/>
                <a:sym typeface="+mn-ea"/>
              </a:rPr>
              <a:t> но в будущем мы постараемся интегрировать в поликлиники</a:t>
            </a:r>
            <a:endParaRPr lang="ru-RU" altLang="en-US"/>
          </a:p>
        </p:txBody>
      </p:sp>
      <p:sp>
        <p:nvSpPr>
          <p:cNvPr id="6" name="Заголовок 1"/>
          <p:cNvSpPr>
            <a:spLocks noGrp="1"/>
          </p:cNvSpPr>
          <p:nvPr/>
        </p:nvSpPr>
        <p:spPr>
          <a:xfrm>
            <a:off x="774700" y="3854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  <a:latin typeface="Montserrat Medium" panose="00000600000000000000" pitchFamily="2" charset="-52"/>
                <a:sym typeface="+mn-ea"/>
              </a:rPr>
              <a:t>Где это будет работать</a:t>
            </a:r>
            <a:endParaRPr lang="en-US" altLang="ru-RU" dirty="0">
              <a:solidFill>
                <a:schemeClr val="bg1"/>
              </a:solidFill>
              <a:latin typeface="Montserrat Medium" panose="00000600000000000000" pitchFamily="2" charset="-5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dirty="0">
                <a:solidFill>
                  <a:schemeClr val="bg1"/>
                </a:solidFill>
                <a:latin typeface="Montserrat Medium" panose="00000600000000000000" pitchFamily="2" charset="-52"/>
                <a:sym typeface="+mn-ea"/>
              </a:rPr>
              <a:t>Когда это нужно</a:t>
            </a:r>
            <a:endParaRPr lang="ru-RU" altLang="en-US"/>
          </a:p>
        </p:txBody>
      </p:sp>
      <p:sp>
        <p:nvSpPr>
          <p:cNvPr id="5" name="Заголовок 1"/>
          <p:cNvSpPr>
            <a:spLocks noGrp="1"/>
          </p:cNvSpPr>
          <p:nvPr/>
        </p:nvSpPr>
        <p:spPr>
          <a:xfrm>
            <a:off x="530860" y="25190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+mj-ea"/>
                <a:cs typeface="+mj-cs"/>
              </a:defRPr>
            </a:lvl1pPr>
          </a:lstStyle>
          <a:p>
            <a:r>
              <a:rPr lang="ru-RU" sz="4000" dirty="0">
                <a:solidFill>
                  <a:schemeClr val="bg1"/>
                </a:solidFill>
                <a:latin typeface="Montserrat Regular" panose="00000500000000000000" pitchFamily="2" charset="-52"/>
                <a:sym typeface="+mn-ea"/>
              </a:rPr>
              <a:t>Сезонность</a:t>
            </a:r>
            <a:r>
              <a:rPr lang="en-US" sz="4000" dirty="0">
                <a:solidFill>
                  <a:schemeClr val="bg1"/>
                </a:solidFill>
                <a:latin typeface="Montserrat Regular" panose="00000500000000000000" pitchFamily="2" charset="-52"/>
                <a:sym typeface="+mn-ea"/>
              </a:rPr>
              <a:t>:</a:t>
            </a:r>
            <a:r>
              <a:rPr lang="ru-RU" sz="4000" dirty="0">
                <a:solidFill>
                  <a:schemeClr val="bg1"/>
                </a:solidFill>
                <a:latin typeface="Montserrat Regular" panose="00000500000000000000" pitchFamily="2" charset="-52"/>
                <a:sym typeface="+mn-ea"/>
              </a:rPr>
              <a:t> он всегда будет нужен ведь ты не знаешь что у тебя всегда хорошее здоровье</a:t>
            </a:r>
            <a:endParaRPr lang="ru-RU" sz="4000" dirty="0">
              <a:solidFill>
                <a:schemeClr val="bg1"/>
              </a:solidFill>
              <a:latin typeface="Montserrat Regular" panose="00000500000000000000" pitchFamily="2" charset="-52"/>
            </a:endParaRPr>
          </a:p>
          <a:p>
            <a:endParaRPr lang="ru-RU" altLang="en-US" sz="2700" dirty="0">
              <a:solidFill>
                <a:schemeClr val="bg1"/>
              </a:solidFill>
              <a:latin typeface="Montserrat Regular" panose="00000500000000000000" pitchFamily="2" charset="-5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927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>
                <a:solidFill>
                  <a:schemeClr val="bg1"/>
                </a:solidFill>
              </a:rPr>
              <a:t>актуальность</a:t>
            </a:r>
            <a:endParaRPr lang="ru-RU" altLang="ru-RU">
              <a:solidFill>
                <a:schemeClr val="bg1"/>
              </a:solidFill>
            </a:endParaRPr>
          </a:p>
        </p:txBody>
      </p:sp>
      <p:graphicFrame>
        <p:nvGraphicFramePr>
          <p:cNvPr id="5" name="Таблица 4"/>
          <p:cNvGraphicFramePr/>
          <p:nvPr/>
        </p:nvGraphicFramePr>
        <p:xfrm>
          <a:off x="1828800" y="1584325"/>
          <a:ext cx="853376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фактор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обоснование</a:t>
                      </a:r>
                      <a:endParaRPr lang="ru-RU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Рост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деменции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По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информации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на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июль</a:t>
                      </a:r>
                      <a:r>
                        <a:rPr lang="en-US" altLang="ru-RU"/>
                        <a:t> 2025 </a:t>
                      </a:r>
                      <a:r>
                        <a:rPr lang="en-US" altLang="en-US"/>
                        <a:t>года</a:t>
                      </a:r>
                      <a:r>
                        <a:rPr lang="en-US" altLang="ru-RU"/>
                        <a:t>, </a:t>
                      </a:r>
                      <a:r>
                        <a:rPr lang="en-US" altLang="en-US"/>
                        <a:t>число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россиян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с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деменцией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растёт</a:t>
                      </a:r>
                      <a:r>
                        <a:rPr lang="en-US" altLang="ru-RU"/>
                        <a:t>, </a:t>
                      </a:r>
                      <a:r>
                        <a:rPr lang="en-US" altLang="en-US"/>
                        <a:t>и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на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текущий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момент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достигло</a:t>
                      </a:r>
                      <a:r>
                        <a:rPr lang="en-US" altLang="ru-RU"/>
                        <a:t> 1,5 </a:t>
                      </a:r>
                      <a:r>
                        <a:rPr lang="en-US" altLang="en-US"/>
                        <a:t>миллионов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человек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Цифровизация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медицины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Переход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на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электронные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медкарты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Ужесточение</a:t>
                      </a:r>
                      <a:r>
                        <a:rPr lang="en-US" altLang="ru-RU"/>
                        <a:t> 152-</a:t>
                      </a:r>
                      <a:r>
                        <a:rPr lang="en-US" altLang="en-US"/>
                        <a:t>ФЗ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Новые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штрафы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с</a:t>
                      </a:r>
                      <a:r>
                        <a:rPr lang="en-US" altLang="ru-RU"/>
                        <a:t> 2023 </a:t>
                      </a:r>
                      <a:r>
                        <a:rPr lang="en-US" altLang="en-US"/>
                        <a:t>года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Утечки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данных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много на данный момент</a:t>
                      </a:r>
                      <a:endParaRPr lang="ru-RU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Спрос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на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скрининг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мало </a:t>
                      </a:r>
                      <a:r>
                        <a:rPr lang="en-US" altLang="en-US"/>
                        <a:t>доступных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домашних</a:t>
                      </a:r>
                      <a:r>
                        <a:rPr lang="en-US" altLang="ru-RU"/>
                        <a:t> </a:t>
                      </a:r>
                      <a:r>
                        <a:rPr lang="en-US" altLang="en-US"/>
                        <a:t>тестов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Текстовое поле 5"/>
          <p:cNvSpPr txBox="1"/>
          <p:nvPr/>
        </p:nvSpPr>
        <p:spPr>
          <a:xfrm>
            <a:off x="647700" y="4861560"/>
            <a:ext cx="4963160" cy="172212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zh-CN" sz="1600" b="0" i="0">
              <a:solidFill>
                <a:schemeClr val="bg1"/>
              </a:solidFill>
              <a:latin typeface="+mj-lt"/>
              <a:ea typeface="system-ui"/>
              <a:cs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Замещающее содержимо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927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2146280" cy="5470525"/>
          </a:xfrm>
        </p:spPr>
        <p:txBody>
          <a:bodyPr/>
          <a:p>
            <a:r>
              <a:rPr lang="ru-RU" altLang="en-US">
                <a:solidFill>
                  <a:schemeClr val="bg1"/>
                </a:solidFill>
              </a:rPr>
              <a:t>Спасибо за внимание!</a:t>
            </a:r>
            <a:endParaRPr lang="ru-RU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1755</Words>
  <Application>WPS Presentation</Application>
  <PresentationFormat>宽屏</PresentationFormat>
  <Paragraphs>104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SimSun</vt:lpstr>
      <vt:lpstr>Wingdings</vt:lpstr>
      <vt:lpstr>Calibri Light</vt:lpstr>
      <vt:lpstr>system-ui</vt:lpstr>
      <vt:lpstr>AMGDT</vt:lpstr>
      <vt:lpstr>YS Text</vt:lpstr>
      <vt:lpstr>Montserrat Regular</vt:lpstr>
      <vt:lpstr>Montserrat Medium</vt:lpstr>
      <vt:lpstr>Arial</vt:lpstr>
      <vt:lpstr>Microsoft YaHei</vt:lpstr>
      <vt:lpstr>Arial Unicode MS</vt:lpstr>
      <vt:lpstr>Calibri</vt:lpstr>
      <vt:lpstr>Arial Black</vt:lpstr>
      <vt:lpstr>Arial Narrow</vt:lpstr>
      <vt:lpstr>Bahnschrift</vt:lpstr>
      <vt:lpstr>Office Theme</vt:lpstr>
      <vt:lpstr>Dementery</vt:lpstr>
      <vt:lpstr>что это за проект</vt:lpstr>
      <vt:lpstr>цель моего проекта</vt:lpstr>
      <vt:lpstr> ИБ-ФУНКЦИИ ПРОЕКТА</vt:lpstr>
      <vt:lpstr>анализ проблемы</vt:lpstr>
      <vt:lpstr>решение проблемы</vt:lpstr>
      <vt:lpstr>что?</vt:lpstr>
      <vt:lpstr>Проект полностью в сети а именно в браузере(Яндекс и другое), dementery можно пройти дома, но в будущем мы постараемся интегрировать в поликлиники</vt:lpstr>
      <vt:lpstr>Когда это нужно?</vt:lpstr>
      <vt:lpstr>актуальность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Артем</dc:creator>
  <cp:lastModifiedBy>student</cp:lastModifiedBy>
  <cp:revision>7</cp:revision>
  <dcterms:created xsi:type="dcterms:W3CDTF">2025-07-23T00:59:00Z</dcterms:created>
  <dcterms:modified xsi:type="dcterms:W3CDTF">2026-04-24T03:21:29Z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272A76F38CBB4AA6B379C07CC817A69B_13</vt:lpwstr>
  </property>
</Properties>
</file>